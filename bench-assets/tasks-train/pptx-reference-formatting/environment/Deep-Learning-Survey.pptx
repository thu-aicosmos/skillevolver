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371600"/>
          </a:xfrm>
          <a:prstGeom prst="rect">
            <a:avLst/>
          </a:prstGeom>
          <a:noFill/>
        </p:spPr>
        <p:txBody>
          <a:bodyPr wrap="square">
            <a:spAutoFit/>
          </a:bodyPr>
          <a:lstStyle/>
          <a:p>
            <a:pPr algn="ctr"/>
            <a:r>
              <a:rPr sz="3600" b="1">
                <a:solidFill>
                  <a:srgbClr val="1A1A2E"/>
                </a:solidFill>
                <a:latin typeface="Calibri"/>
              </a:rPr>
              <a:t>Deep Learning Survey</a:t>
            </a:r>
          </a:p>
        </p:txBody>
      </p:sp>
      <p:sp>
        <p:nvSpPr>
          <p:cNvPr id="3" name="TextBox 2"/>
          <p:cNvSpPr txBox="1"/>
          <p:nvPr/>
        </p:nvSpPr>
        <p:spPr>
          <a:xfrm>
            <a:off x="1828800" y="3657600"/>
            <a:ext cx="5486400" cy="731520"/>
          </a:xfrm>
          <a:prstGeom prst="rect">
            <a:avLst/>
          </a:prstGeom>
          <a:noFill/>
        </p:spPr>
        <p:txBody>
          <a:bodyPr wrap="square">
            <a:spAutoFit/>
          </a:bodyPr>
          <a:lstStyle/>
          <a:p>
            <a:pPr algn="ctr"/>
            <a:r>
              <a:rPr sz="1600" b="0">
                <a:solidFill>
                  <a:srgbClr val="555555"/>
                </a:solidFill>
                <a:latin typeface="Calibri"/>
              </a:rPr>
              <a:t>A curated collection of influential papers in deep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pPr algn="l"/>
            <a:r>
              <a:rPr sz="2800" b="1">
                <a:solidFill>
                  <a:srgbClr val="1A1A2E"/>
                </a:solidFill>
                <a:latin typeface="Calibri"/>
              </a:rPr>
              <a:t>Topics Overview</a:t>
            </a:r>
          </a:p>
        </p:txBody>
      </p:sp>
      <p:sp>
        <p:nvSpPr>
          <p:cNvPr id="3" name="TextBox 2"/>
          <p:cNvSpPr txBox="1"/>
          <p:nvPr/>
        </p:nvSpPr>
        <p:spPr>
          <a:xfrm>
            <a:off x="457200" y="1371600"/>
            <a:ext cx="8229600" cy="4572000"/>
          </a:xfrm>
          <a:prstGeom prst="rect">
            <a:avLst/>
          </a:prstGeom>
          <a:noFill/>
        </p:spPr>
        <p:txBody>
          <a:bodyPr wrap="square">
            <a:spAutoFit/>
          </a:bodyPr>
          <a:lstStyle/>
          <a:p>
            <a:pPr algn="l"/>
            <a:r>
              <a:rPr sz="1400" b="0">
                <a:solidFill>
                  <a:srgbClr val="333333"/>
                </a:solidFill>
                <a:latin typeface="Calibri"/>
              </a:rPr>
              <a:t>This presentation covers transformer architectures, pre-trained language models, scaling laws, and generative models. Each slide highlights a specific paper and its contributions to the field of deep learning research. We examine the evolution from attention mechanisms to large-scale pre-training and diffusion-based generation.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pPr algn="l"/>
            <a:r>
              <a:rPr sz="2800" b="1">
                <a:solidFill>
                  <a:srgbClr val="1A1A2E"/>
                </a:solidFill>
                <a:latin typeface="Calibri"/>
              </a:rPr>
              <a:t>Transformers</a:t>
            </a:r>
          </a:p>
        </p:txBody>
      </p:sp>
      <p:sp>
        <p:nvSpPr>
          <p:cNvPr id="3" name="TextBox 2"/>
          <p:cNvSpPr txBox="1"/>
          <p:nvPr/>
        </p:nvSpPr>
        <p:spPr>
          <a:xfrm>
            <a:off x="457200" y="1371600"/>
            <a:ext cx="8229600" cy="3657600"/>
          </a:xfrm>
          <a:prstGeom prst="rect">
            <a:avLst/>
          </a:prstGeom>
          <a:noFill/>
        </p:spPr>
        <p:txBody>
          <a:bodyPr wrap="square">
            <a:spAutoFit/>
          </a:bodyPr>
          <a:lstStyle/>
          <a:p>
            <a:pPr algn="l"/>
            <a:r>
              <a:rPr sz="1400" b="0">
                <a:solidFill>
                  <a:srgbClr val="333333"/>
                </a:solidFill>
                <a:latin typeface="Calibri"/>
              </a:rPr>
              <a:t>The transformer architecture introduced self-attention mechanisms that replaced recurrence entirely. Multi-head attention allows the model to attend to information from different representation subspaces at different positions, enabling parallelization and capturing long-range dependencies more effectively than RNNs or LSTMs.</a:t>
            </a:r>
          </a:p>
        </p:txBody>
      </p:sp>
      <p:sp>
        <p:nvSpPr>
          <p:cNvPr id="4" name="TextBox 3"/>
          <p:cNvSpPr txBox="1"/>
          <p:nvPr/>
        </p:nvSpPr>
        <p:spPr>
          <a:xfrm>
            <a:off x="4572000" y="5486400"/>
            <a:ext cx="4114800" cy="731520"/>
          </a:xfrm>
          <a:prstGeom prst="rect">
            <a:avLst/>
          </a:prstGeom>
          <a:noFill/>
        </p:spPr>
        <p:txBody>
          <a:bodyPr wrap="square">
            <a:spAutoFit/>
          </a:bodyPr>
          <a:lstStyle/>
          <a:p>
            <a:pPr algn="r"/>
            <a:r>
              <a:rPr sz="1100" b="0">
                <a:solidFill>
                  <a:srgbClr val="444444"/>
                </a:solidFill>
                <a:latin typeface="Courier New"/>
              </a:rPr>
              <a:t>Attention Is All You Need: Transformer Architecture for Sequence Transduction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pPr algn="l"/>
            <a:r>
              <a:rPr sz="2800" b="1">
                <a:solidFill>
                  <a:srgbClr val="1A1A2E"/>
                </a:solidFill>
                <a:latin typeface="Calibri"/>
              </a:rPr>
              <a:t>BERT</a:t>
            </a:r>
          </a:p>
        </p:txBody>
      </p:sp>
      <p:sp>
        <p:nvSpPr>
          <p:cNvPr id="3" name="TextBox 2"/>
          <p:cNvSpPr txBox="1"/>
          <p:nvPr/>
        </p:nvSpPr>
        <p:spPr>
          <a:xfrm>
            <a:off x="457200" y="1371600"/>
            <a:ext cx="8229600" cy="3657600"/>
          </a:xfrm>
          <a:prstGeom prst="rect">
            <a:avLst/>
          </a:prstGeom>
          <a:noFill/>
        </p:spPr>
        <p:txBody>
          <a:bodyPr wrap="square">
            <a:spAutoFit/>
          </a:bodyPr>
          <a:lstStyle/>
          <a:p>
            <a:pPr algn="l"/>
            <a:r>
              <a:rPr sz="1400" b="0">
                <a:solidFill>
                  <a:srgbClr val="333333"/>
                </a:solidFill>
                <a:latin typeface="Calibri"/>
              </a:rPr>
              <a:t>Masked language modeling enables bidirectional context understanding during pre-training. Fine-tuning on downstream tasks achieves state-of-the-art results across eleven NLP benchmarks with minimal task-specific architecture modifications, demonstrating the power of large-scale unsupervised pre-training for natural language understanding.</a:t>
            </a:r>
          </a:p>
        </p:txBody>
      </p:sp>
      <p:sp>
        <p:nvSpPr>
          <p:cNvPr id="4" name="TextBox 3"/>
          <p:cNvSpPr txBox="1"/>
          <p:nvPr/>
        </p:nvSpPr>
        <p:spPr>
          <a:xfrm>
            <a:off x="274320" y="5029200"/>
            <a:ext cx="3657600" cy="914400"/>
          </a:xfrm>
          <a:prstGeom prst="rect">
            <a:avLst/>
          </a:prstGeom>
          <a:noFill/>
        </p:spPr>
        <p:txBody>
          <a:bodyPr wrap="square">
            <a:spAutoFit/>
          </a:bodyPr>
          <a:lstStyle/>
          <a:p>
            <a:pPr algn="l"/>
            <a:r>
              <a:rPr sz="1200" b="1">
                <a:solidFill>
                  <a:srgbClr val="222222"/>
                </a:solidFill>
                <a:latin typeface="Times New Roman"/>
              </a:rPr>
              <a:t>BERT: Pre-training of Deep Bidirectional Transformers for Language Understanding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pPr algn="l"/>
            <a:r>
              <a:rPr sz="2800" b="1">
                <a:solidFill>
                  <a:srgbClr val="1A1A2E"/>
                </a:solidFill>
                <a:latin typeface="Calibri"/>
              </a:rPr>
              <a:t>Attention Deep-Dive</a:t>
            </a:r>
          </a:p>
        </p:txBody>
      </p:sp>
      <p:sp>
        <p:nvSpPr>
          <p:cNvPr id="3" name="TextBox 2"/>
          <p:cNvSpPr txBox="1"/>
          <p:nvPr/>
        </p:nvSpPr>
        <p:spPr>
          <a:xfrm>
            <a:off x="457200" y="1371600"/>
            <a:ext cx="8229600" cy="3657600"/>
          </a:xfrm>
          <a:prstGeom prst="rect">
            <a:avLst/>
          </a:prstGeom>
          <a:noFill/>
        </p:spPr>
        <p:txBody>
          <a:bodyPr wrap="square">
            <a:spAutoFit/>
          </a:bodyPr>
          <a:lstStyle/>
          <a:p>
            <a:pPr algn="l"/>
            <a:r>
              <a:rPr sz="1400" b="0">
                <a:solidFill>
                  <a:srgbClr val="333333"/>
                </a:solidFill>
                <a:latin typeface="Calibri"/>
              </a:rPr>
              <a:t>Scaled dot-product attention computes compatibility between queries and keys using learned linear projections. Position encodings inject sequence order information into the model. Layer normalization and residual connections stabilize training of very deep transformer networks with many attention heads and feed-forward layers.</a:t>
            </a:r>
          </a:p>
        </p:txBody>
      </p:sp>
      <p:sp>
        <p:nvSpPr>
          <p:cNvPr id="4" name="TextBox 3"/>
          <p:cNvSpPr txBox="1"/>
          <p:nvPr/>
        </p:nvSpPr>
        <p:spPr>
          <a:xfrm>
            <a:off x="4572000" y="5486400"/>
            <a:ext cx="4114800" cy="731520"/>
          </a:xfrm>
          <a:prstGeom prst="rect">
            <a:avLst/>
          </a:prstGeom>
          <a:noFill/>
        </p:spPr>
        <p:txBody>
          <a:bodyPr wrap="square">
            <a:spAutoFit/>
          </a:bodyPr>
          <a:lstStyle/>
          <a:p>
            <a:pPr algn="r"/>
            <a:r>
              <a:rPr sz="1100" b="0">
                <a:solidFill>
                  <a:srgbClr val="444444"/>
                </a:solidFill>
                <a:latin typeface="Courier New"/>
              </a:rPr>
              <a:t>Attention Is All You Need: Transformer Architecture for Sequence Transduction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pPr algn="l"/>
            <a:r>
              <a:rPr sz="2800" b="1">
                <a:solidFill>
                  <a:srgbClr val="1A1A2E"/>
                </a:solidFill>
                <a:latin typeface="Calibri"/>
              </a:rPr>
              <a:t>Scaling Models</a:t>
            </a:r>
          </a:p>
        </p:txBody>
      </p:sp>
      <p:sp>
        <p:nvSpPr>
          <p:cNvPr id="3" name="TextBox 2"/>
          <p:cNvSpPr txBox="1"/>
          <p:nvPr/>
        </p:nvSpPr>
        <p:spPr>
          <a:xfrm>
            <a:off x="457200" y="1371600"/>
            <a:ext cx="8229600" cy="3657600"/>
          </a:xfrm>
          <a:prstGeom prst="rect">
            <a:avLst/>
          </a:prstGeom>
          <a:noFill/>
        </p:spPr>
        <p:txBody>
          <a:bodyPr wrap="square">
            <a:spAutoFit/>
          </a:bodyPr>
          <a:lstStyle/>
          <a:p>
            <a:pPr algn="l"/>
            <a:r>
              <a:rPr sz="1400" b="0">
                <a:solidFill>
                  <a:srgbClr val="333333"/>
                </a:solidFill>
                <a:latin typeface="Calibri"/>
              </a:rPr>
              <a:t>Reinforcement learning from human feedback aligns model outputs with human preferences and values. Emergent capabilities appear at sufficient parameter scale including chain-of-thought reasoning. Safety mitigations include content filtering, red-team adversarial testing, and iterative deployment with monitoring and feedback loops.</a:t>
            </a:r>
          </a:p>
        </p:txBody>
      </p:sp>
      <p:sp>
        <p:nvSpPr>
          <p:cNvPr id="4" name="TextBox 3"/>
          <p:cNvSpPr txBox="1"/>
          <p:nvPr/>
        </p:nvSpPr>
        <p:spPr>
          <a:xfrm>
            <a:off x="274320" y="5029200"/>
            <a:ext cx="3657600" cy="914400"/>
          </a:xfrm>
          <a:prstGeom prst="rect">
            <a:avLst/>
          </a:prstGeom>
          <a:noFill/>
        </p:spPr>
        <p:txBody>
          <a:bodyPr wrap="square">
            <a:spAutoFit/>
          </a:bodyPr>
          <a:lstStyle/>
          <a:p>
            <a:pPr algn="l"/>
            <a:r>
              <a:rPr sz="1200" b="1">
                <a:solidFill>
                  <a:srgbClr val="222222"/>
                </a:solidFill>
                <a:latin typeface="Times New Roman"/>
              </a:rPr>
              <a:t>GPT-4 Technical Report: Scaling Language Models with Reinforcement Learning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pPr algn="l"/>
            <a:r>
              <a:rPr sz="2800" b="1">
                <a:solidFill>
                  <a:srgbClr val="1A1A2E"/>
                </a:solidFill>
                <a:latin typeface="Calibri"/>
              </a:rPr>
              <a:t>Transfer Learning</a:t>
            </a:r>
          </a:p>
        </p:txBody>
      </p:sp>
      <p:sp>
        <p:nvSpPr>
          <p:cNvPr id="3" name="TextBox 2"/>
          <p:cNvSpPr txBox="1"/>
          <p:nvPr/>
        </p:nvSpPr>
        <p:spPr>
          <a:xfrm>
            <a:off x="457200" y="1371600"/>
            <a:ext cx="8229600" cy="3657600"/>
          </a:xfrm>
          <a:prstGeom prst="rect">
            <a:avLst/>
          </a:prstGeom>
          <a:noFill/>
        </p:spPr>
        <p:txBody>
          <a:bodyPr wrap="square">
            <a:spAutoFit/>
          </a:bodyPr>
          <a:lstStyle/>
          <a:p>
            <a:pPr algn="l"/>
            <a:r>
              <a:rPr sz="1400" b="0">
                <a:solidFill>
                  <a:srgbClr val="333333"/>
                </a:solidFill>
                <a:latin typeface="Calibri"/>
              </a:rPr>
              <a:t>Pre-training on large corpora followed by task-specific fine-tuning has become the dominant paradigm in modern natural language processing. Contextual word embeddings capture polysemy, syntax, and semantic relationships. Few-shot and zero-shot learning capabilities emerge naturally from sufficient model and training data scale.</a:t>
            </a:r>
          </a:p>
        </p:txBody>
      </p:sp>
      <p:sp>
        <p:nvSpPr>
          <p:cNvPr id="4" name="TextBox 3"/>
          <p:cNvSpPr txBox="1"/>
          <p:nvPr/>
        </p:nvSpPr>
        <p:spPr>
          <a:xfrm>
            <a:off x="4572000" y="5486400"/>
            <a:ext cx="4114800" cy="731520"/>
          </a:xfrm>
          <a:prstGeom prst="rect">
            <a:avLst/>
          </a:prstGeom>
          <a:noFill/>
        </p:spPr>
        <p:txBody>
          <a:bodyPr wrap="square">
            <a:spAutoFit/>
          </a:bodyPr>
          <a:lstStyle/>
          <a:p>
            <a:pPr algn="r"/>
            <a:r>
              <a:rPr sz="1100" b="0">
                <a:solidFill>
                  <a:srgbClr val="444444"/>
                </a:solidFill>
                <a:latin typeface="Courier New"/>
              </a:rPr>
              <a:t>BERT: Pre-training of Deep Bidirectional Transformers for Language Understanding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pPr algn="l"/>
            <a:r>
              <a:rPr sz="2800" b="1">
                <a:solidFill>
                  <a:srgbClr val="1A1A2E"/>
                </a:solidFill>
                <a:latin typeface="Calibri"/>
              </a:rPr>
              <a:t>Diffusion Models</a:t>
            </a:r>
          </a:p>
        </p:txBody>
      </p:sp>
      <p:sp>
        <p:nvSpPr>
          <p:cNvPr id="3" name="TextBox 2"/>
          <p:cNvSpPr txBox="1"/>
          <p:nvPr/>
        </p:nvSpPr>
        <p:spPr>
          <a:xfrm>
            <a:off x="457200" y="1371600"/>
            <a:ext cx="8229600" cy="3657600"/>
          </a:xfrm>
          <a:prstGeom prst="rect">
            <a:avLst/>
          </a:prstGeom>
          <a:noFill/>
        </p:spPr>
        <p:txBody>
          <a:bodyPr wrap="square">
            <a:spAutoFit/>
          </a:bodyPr>
          <a:lstStyle/>
          <a:p>
            <a:pPr algn="l"/>
            <a:r>
              <a:rPr sz="1400" b="0">
                <a:solidFill>
                  <a:srgbClr val="333333"/>
                </a:solidFill>
                <a:latin typeface="Calibri"/>
              </a:rPr>
              <a:t>Denoising diffusion probabilistic models learn to reverse a gradual noise corruption process. Classifier-free guidance significantly improves sample quality and diversity trade-off. Architecture modifications such as U-Net backbones with cross-attention conditioning enable photorealistic high-resolution image synthesis and editing.</a:t>
            </a:r>
          </a:p>
        </p:txBody>
      </p:sp>
      <p:sp>
        <p:nvSpPr>
          <p:cNvPr id="4" name="TextBox 3"/>
          <p:cNvSpPr txBox="1"/>
          <p:nvPr/>
        </p:nvSpPr>
        <p:spPr>
          <a:xfrm>
            <a:off x="274320" y="5029200"/>
            <a:ext cx="3657600" cy="914400"/>
          </a:xfrm>
          <a:prstGeom prst="rect">
            <a:avLst/>
          </a:prstGeom>
          <a:noFill/>
        </p:spPr>
        <p:txBody>
          <a:bodyPr wrap="square">
            <a:spAutoFit/>
          </a:bodyPr>
          <a:lstStyle/>
          <a:p>
            <a:pPr algn="l"/>
            <a:r>
              <a:rPr sz="1200" b="1">
                <a:solidFill>
                  <a:srgbClr val="222222"/>
                </a:solidFill>
                <a:latin typeface="Times New Roman"/>
              </a:rPr>
              <a:t>Diffusion Models Beat GANs on Image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